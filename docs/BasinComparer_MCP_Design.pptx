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49"/>
    <p:restoredTop sz="94610"/>
  </p:normalViewPr>
  <p:slideViewPr>
    <p:cSldViewPr snapToGrid="0" snapToObjects="1">
      <p:cViewPr varScale="1">
        <p:scale>
          <a:sx n="265" d="100"/>
          <a:sy n="265" d="100"/>
        </p:scale>
        <p:origin x="216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示例目标A</c:v>
                </c:pt>
              </c:strCache>
            </c:strRef>
          </c:tx>
          <c:spPr>
            <a:ln w="25400" cap="flat">
              <a:solidFill>
                <a:srgbClr val="0FA3B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FA3B1"/>
              </a:solidFill>
              <a:ln w="9525" cap="flat">
                <a:solidFill>
                  <a:srgbClr val="0FA3B1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烃源岩</c:v>
                </c:pt>
                <c:pt idx="1">
                  <c:v>储层条件</c:v>
                </c:pt>
                <c:pt idx="2">
                  <c:v>盖层条件</c:v>
                </c:pt>
                <c:pt idx="3">
                  <c:v>圈闭条件</c:v>
                </c:pt>
                <c:pt idx="4">
                  <c:v>资源潜力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</c:v>
                </c:pt>
                <c:pt idx="1">
                  <c:v>65</c:v>
                </c:pt>
                <c:pt idx="2">
                  <c:v>72</c:v>
                </c:pt>
                <c:pt idx="3">
                  <c:v>55</c:v>
                </c:pt>
                <c:pt idx="4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44-334E-B99A-A77420F8487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示例目标B</c:v>
                </c:pt>
              </c:strCache>
            </c:strRef>
          </c:tx>
          <c:spPr>
            <a:ln w="25400" cap="flat">
              <a:solidFill>
                <a:srgbClr val="E8A83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A838"/>
              </a:solidFill>
              <a:ln w="9525" cap="flat">
                <a:solidFill>
                  <a:srgbClr val="E8A838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烃源岩</c:v>
                </c:pt>
                <c:pt idx="1">
                  <c:v>储层条件</c:v>
                </c:pt>
                <c:pt idx="2">
                  <c:v>盖层条件</c:v>
                </c:pt>
                <c:pt idx="3">
                  <c:v>圈闭条件</c:v>
                </c:pt>
                <c:pt idx="4">
                  <c:v>资源潜力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55</c:v>
                </c:pt>
                <c:pt idx="1">
                  <c:v>80</c:v>
                </c:pt>
                <c:pt idx="2">
                  <c:v>60</c:v>
                </c:pt>
                <c:pt idx="3">
                  <c:v>70</c:v>
                </c:pt>
                <c:pt idx="4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044-334E-B99A-A77420F848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4F7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6418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36576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94760" y="36576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0" y="36576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83480" y="36576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36576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36576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0" y="36576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60920" y="36576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55280" y="36576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49640" y="36576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114300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94760" y="114300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0" y="114300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83480" y="114300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77840" y="114300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114300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0" y="114300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60920" y="114300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55280" y="114300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49640" y="114300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192024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94760" y="192024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0" y="192024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83480" y="192024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77840" y="192024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2200" y="192024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66560" y="192024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60920" y="192024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55280" y="192024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549640" y="192024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0" y="269748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94760" y="269748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89120" y="269748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83480" y="269748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577840" y="269748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72200" y="269748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66560" y="269748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60920" y="269748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955280" y="269748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49640" y="269748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347472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794760" y="347472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89120" y="347472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983480" y="347472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577840" y="347472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172200" y="347472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66560" y="347472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360920" y="347472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955280" y="347472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549640" y="347472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00400" y="425196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794760" y="425196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389120" y="425196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983480" y="425196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577840" y="425196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172200" y="425196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766560" y="425196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360920" y="425196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955280" y="425196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549640" y="4251960"/>
            <a:ext cx="64008" cy="64008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0D7680">
                <a:alpha val="40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28600" y="4572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0FA3B1"/>
                </a:solidFill>
              </a:rPr>
              <a:t>MCP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228600" y="868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600" dirty="0">
                <a:solidFill>
                  <a:srgbClr val="8BA0B8"/>
                </a:solidFill>
              </a:rPr>
              <a:t>SERVICE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3108960" y="73152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BasinComparer</a:t>
            </a:r>
            <a:endParaRPr lang="en-US" sz="4400" dirty="0"/>
          </a:p>
        </p:txBody>
      </p:sp>
      <p:sp>
        <p:nvSpPr>
          <p:cNvPr id="67" name="Text 65"/>
          <p:cNvSpPr/>
          <p:nvPr/>
        </p:nvSpPr>
        <p:spPr>
          <a:xfrm>
            <a:off x="3108960" y="1645920"/>
            <a:ext cx="5760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盆地勘探优先级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评价与排序服务</a:t>
            </a:r>
            <a:endParaRPr lang="en-US" sz="2600" dirty="0"/>
          </a:p>
        </p:txBody>
      </p:sp>
      <p:sp>
        <p:nvSpPr>
          <p:cNvPr id="68" name="Shape 66"/>
          <p:cNvSpPr/>
          <p:nvPr/>
        </p:nvSpPr>
        <p:spPr>
          <a:xfrm>
            <a:off x="3108960" y="2971800"/>
            <a:ext cx="5303520" cy="36576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108960" y="3154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BB5CC"/>
                </a:solidFill>
              </a:rPr>
              <a:t>基于 DocIntel 的证据驱动式勘探决策支持系统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3108960" y="4480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880"/>
                </a:solidFill>
              </a:rPr>
              <a:t>设计草案  ·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背景与目标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9611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A3B1"/>
                </a:solidFill>
              </a:rPr>
              <a:t>BasinComparer 的核心问题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哪些盆地或凹陷应优先开展勘探工作？当前资料是否足以支撑结论？下一步该做什么？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65960"/>
            <a:ext cx="1965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965960"/>
            <a:ext cx="1965960" cy="73152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2084832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26060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A"/>
                </a:solidFill>
              </a:rPr>
              <a:t>勘探优先级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11480" y="3035808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哪些目标值得优先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投入资源？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468880" y="1965960"/>
            <a:ext cx="1965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68880" y="1965960"/>
            <a:ext cx="1965960" cy="73152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8688" y="2084832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60320" y="26060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A"/>
                </a:solidFill>
              </a:rPr>
              <a:t>资料充分性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560320" y="3035808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资料是否足够支撑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排序和部署决策？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617720" y="1965960"/>
            <a:ext cx="1965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617720" y="1965960"/>
            <a:ext cx="1965960" cy="73152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7528" y="2084832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709160" y="26060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A"/>
                </a:solidFill>
              </a:rPr>
              <a:t>可解释排序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709160" y="3035808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为什么某目标排在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另一目标之前？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766560" y="1965960"/>
            <a:ext cx="1965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766560" y="1965960"/>
            <a:ext cx="1965960" cy="73152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6368" y="2084832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58000" y="26060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A"/>
                </a:solidFill>
              </a:rPr>
              <a:t>部署建议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6858000" y="3035808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预探井、评价井还是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先补充地震资料？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D7680"/>
                </a:solidFill>
              </a:rPr>
              <a:t>BasinComparer 不是资料问答系统，而是证据驱动的勘探排序与部署建议服务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总体流程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234440" cy="13716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012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DocIntel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已入库资料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8600" y="2304288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</a:rPr>
              <a:t>RAG / GraphRAG / Table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508760" y="1600200"/>
            <a:ext cx="228600" cy="0"/>
          </a:xfrm>
          <a:prstGeom prst="line">
            <a:avLst/>
          </a:prstGeom>
          <a:noFill/>
          <a:ln w="25400">
            <a:solidFill>
              <a:srgbClr val="0FA3B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37360" y="914400"/>
            <a:ext cx="1234440" cy="137160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37360" y="96012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资料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完备性评估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91640" y="2304288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</a:rPr>
              <a:t>assess_target_data_readiness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971800" y="1600200"/>
            <a:ext cx="228600" cy="0"/>
          </a:xfrm>
          <a:prstGeom prst="line">
            <a:avLst/>
          </a:prstGeom>
          <a:noFill/>
          <a:ln w="25400">
            <a:solidFill>
              <a:srgbClr val="0FA3B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914400"/>
            <a:ext cx="1234440" cy="137160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96012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评价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画像构建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54680" y="2304288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</a:rPr>
              <a:t>build_basin_evaluation_profile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434840" y="1600200"/>
            <a:ext cx="228600" cy="0"/>
          </a:xfrm>
          <a:prstGeom prst="line">
            <a:avLst/>
          </a:prstGeom>
          <a:noFill/>
          <a:ln w="25400">
            <a:solidFill>
              <a:srgbClr val="0FA3B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914400"/>
            <a:ext cx="1234440" cy="13716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96012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地质评分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风险诊断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17720" y="2304288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</a:rPr>
              <a:t>score_exploration_target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97880" y="1600200"/>
            <a:ext cx="228600" cy="0"/>
          </a:xfrm>
          <a:prstGeom prst="line">
            <a:avLst/>
          </a:prstGeom>
          <a:noFill/>
          <a:ln w="25400">
            <a:solidFill>
              <a:srgbClr val="0FA3B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914400"/>
            <a:ext cx="1234440" cy="13716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26480" y="96012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多目标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排序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80760" y="2304288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</a:rPr>
              <a:t>rank_exploration_targets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360920" y="1600200"/>
            <a:ext cx="228600" cy="0"/>
          </a:xfrm>
          <a:prstGeom prst="line">
            <a:avLst/>
          </a:prstGeom>
          <a:noFill/>
          <a:ln w="25400">
            <a:solidFill>
              <a:srgbClr val="0FA3B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89520" y="914400"/>
            <a:ext cx="1234440" cy="13716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589520" y="96012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部署建议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报告生成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543800" y="2304288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</a:rPr>
              <a:t>recommend + report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3017520"/>
            <a:ext cx="8595360" cy="1783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07238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A3B1"/>
                </a:solidFill>
              </a:rPr>
              <a:t>最小闭环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493008"/>
            <a:ext cx="1508760" cy="502920"/>
          </a:xfrm>
          <a:prstGeom prst="rect">
            <a:avLst/>
          </a:prstGeom>
          <a:solidFill>
            <a:srgbClr val="253D5E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511296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资料是否足够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965960" y="3739896"/>
            <a:ext cx="182880" cy="0"/>
          </a:xfrm>
          <a:prstGeom prst="line">
            <a:avLst/>
          </a:prstGeom>
          <a:noFill/>
          <a:ln w="19050">
            <a:solidFill>
              <a:srgbClr val="0FA3B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48840" y="3493008"/>
            <a:ext cx="1508760" cy="502920"/>
          </a:xfrm>
          <a:prstGeom prst="rect">
            <a:avLst/>
          </a:prstGeom>
          <a:solidFill>
            <a:srgbClr val="253D5E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48840" y="3511296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地质条件如何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0" y="3739896"/>
            <a:ext cx="182880" cy="0"/>
          </a:xfrm>
          <a:prstGeom prst="line">
            <a:avLst/>
          </a:prstGeom>
          <a:noFill/>
          <a:ln w="19050">
            <a:solidFill>
              <a:srgbClr val="0FA3B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40480" y="3493008"/>
            <a:ext cx="1508760" cy="502920"/>
          </a:xfrm>
          <a:prstGeom prst="rect">
            <a:avLst/>
          </a:prstGeom>
          <a:solidFill>
            <a:srgbClr val="253D5E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0" y="3511296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排名为什么如此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349240" y="3739896"/>
            <a:ext cx="182880" cy="0"/>
          </a:xfrm>
          <a:prstGeom prst="line">
            <a:avLst/>
          </a:prstGeom>
          <a:noFill/>
          <a:ln w="19050">
            <a:solidFill>
              <a:srgbClr val="0FA3B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532120" y="3493008"/>
            <a:ext cx="1508760" cy="502920"/>
          </a:xfrm>
          <a:prstGeom prst="rect">
            <a:avLst/>
          </a:prstGeom>
          <a:solidFill>
            <a:srgbClr val="253D5E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32120" y="3511296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下一步该做什么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040880" y="3739896"/>
            <a:ext cx="182880" cy="0"/>
          </a:xfrm>
          <a:prstGeom prst="line">
            <a:avLst/>
          </a:prstGeom>
          <a:noFill/>
          <a:ln w="19050">
            <a:solidFill>
              <a:srgbClr val="0FA3B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223760" y="3493008"/>
            <a:ext cx="1508760" cy="502920"/>
          </a:xfrm>
          <a:prstGeom prst="rect">
            <a:avLst/>
          </a:prstGeom>
          <a:solidFill>
            <a:srgbClr val="253D5E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23760" y="3511296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证据在哪里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资料完备性评估 — 排序的前置条件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566928"/>
          </a:xfrm>
          <a:prstGeom prst="rect">
            <a:avLst/>
          </a:prstGeom>
          <a:solidFill>
            <a:srgbClr val="FEF3CD"/>
          </a:solidFill>
          <a:ln w="25400">
            <a:solidFill>
              <a:srgbClr val="E8A83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77824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886968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4F00"/>
                </a:solidFill>
              </a:rPr>
              <a:t>资料不足 ≠ 地质条件差   两类问题必须分开，否则会误导排序结论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20040" y="1508760"/>
            <a:ext cx="26517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1508760"/>
            <a:ext cx="2651760" cy="502920"/>
          </a:xfrm>
          <a:prstGeom prst="rect">
            <a:avLst/>
          </a:prstGeom>
          <a:solidFill>
            <a:srgbClr val="1A9B5F"/>
          </a:solidFill>
          <a:ln w="12700">
            <a:solidFill>
              <a:srgbClr val="1A9B5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153619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READY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11480" y="21031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A"/>
                </a:solidFill>
              </a:rPr>
              <a:t>资料较完整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11480" y="25603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关键维度和核心指标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基本齐全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3319272"/>
            <a:ext cx="2377440" cy="27432"/>
          </a:xfrm>
          <a:prstGeom prst="rect">
            <a:avLst/>
          </a:prstGeom>
          <a:solidFill>
            <a:srgbClr val="E2EAF2"/>
          </a:solidFill>
          <a:ln w="12700">
            <a:solidFill>
              <a:srgbClr val="E2EA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" y="34015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9B5F"/>
                </a:solidFill>
              </a:rPr>
              <a:t>建议动作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11480" y="37033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</a:rPr>
              <a:t>正常评分、排序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</a:rPr>
              <a:t>生成部署建议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172968" y="1508760"/>
            <a:ext cx="26517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172968" y="1508760"/>
            <a:ext cx="2651760" cy="5029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172968" y="153619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PARTIAL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264408" y="21031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A"/>
                </a:solidFill>
              </a:rPr>
              <a:t>资料部分完整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264408" y="25603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具备一定评价基础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但存在重要缺口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310128" y="3319272"/>
            <a:ext cx="2377440" cy="27432"/>
          </a:xfrm>
          <a:prstGeom prst="rect">
            <a:avLst/>
          </a:prstGeom>
          <a:solidFill>
            <a:srgbClr val="E2EAF2"/>
          </a:solidFill>
          <a:ln w="12700">
            <a:solidFill>
              <a:srgbClr val="E2EA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64408" y="34015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A838"/>
                </a:solidFill>
              </a:rPr>
              <a:t>建议动作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264408" y="37033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</a:rPr>
              <a:t>允许排序，但必须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</a:rPr>
              <a:t>降低结论置信度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025896" y="1508760"/>
            <a:ext cx="26517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025896" y="1508760"/>
            <a:ext cx="265176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025896" y="153619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INSUFFICIENT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117336" y="21031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A"/>
                </a:solidFill>
              </a:rPr>
              <a:t>资料不足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117336" y="25603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缺少关键维度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或核心指标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163056" y="3319272"/>
            <a:ext cx="2377440" cy="27432"/>
          </a:xfrm>
          <a:prstGeom prst="rect">
            <a:avLst/>
          </a:prstGeom>
          <a:solidFill>
            <a:srgbClr val="E2EAF2"/>
          </a:solidFill>
          <a:ln w="12700">
            <a:solidFill>
              <a:srgbClr val="E2EAF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17336" y="34015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</a:rPr>
              <a:t>建议动作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117336" y="37033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</a:rPr>
              <a:t>不做强排序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</a:rPr>
              <a:t>输出资料缺口建议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五维地质评价体系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0" y="731520"/>
          <a:ext cx="38404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822960"/>
            <a:ext cx="44805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822960"/>
            <a:ext cx="64008" cy="713232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87782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</a:rPr>
              <a:t>烃源岩条件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11704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TOC、Ro、生烃强度、有效烃源岩厚度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114800" y="987552"/>
            <a:ext cx="594360" cy="347472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987552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25%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74320" y="1627632"/>
            <a:ext cx="44805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" y="1627632"/>
            <a:ext cx="64008" cy="713232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168249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</a:rPr>
              <a:t>储层条件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19751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孔隙度、渗透率、含油饱和度、储层厚度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114800" y="1792224"/>
            <a:ext cx="594360" cy="347472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0" y="1792224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25%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74320" y="2432304"/>
            <a:ext cx="44805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4320" y="2432304"/>
            <a:ext cx="64008" cy="71323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248716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</a:rPr>
              <a:t>盖层条件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277977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盖层厚度、突破压力、连续性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114800" y="2596896"/>
            <a:ext cx="59436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114800" y="2596896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15%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274320" y="3236976"/>
            <a:ext cx="44805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74320" y="3236976"/>
            <a:ext cx="64008" cy="71323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32918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</a:rPr>
              <a:t>圈闭条件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57200" y="35844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圈闭类型、规模、落实程度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114800" y="3401568"/>
            <a:ext cx="59436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14800" y="3401568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15%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274320" y="4041648"/>
            <a:ext cx="44805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274320" y="4041648"/>
            <a:ext cx="64008" cy="71323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7200" y="409651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</a:rPr>
              <a:t>资源潜力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57200" y="4389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资源量、资源丰度、可采系数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114800" y="4206240"/>
            <a:ext cx="594360" cy="34747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114800" y="420624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20%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评分、排序与置信度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606040" cy="150876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2296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data_readiness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_score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资料完备性分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93852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BCCDD"/>
                </a:solidFill>
              </a:rPr>
              <a:t>资料是否覆盖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BCCDD"/>
                </a:solidFill>
              </a:rPr>
              <a:t>关键评价维度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777240"/>
            <a:ext cx="2606040" cy="15087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82296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geological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_score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46120" y="15087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地质评价分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46120" y="193852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BCCDD"/>
                </a:solidFill>
              </a:rPr>
              <a:t>五维加权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BCCDD"/>
                </a:solidFill>
              </a:rPr>
              <a:t>综合评分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777240"/>
            <a:ext cx="2606040" cy="15087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82296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_confidence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15087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决策置信度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193852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BCCDD"/>
                </a:solidFill>
              </a:rPr>
              <a:t>综合资料质量、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BCCDD"/>
                </a:solidFill>
              </a:rPr>
              <a:t>一致性、时效性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2468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</a:rPr>
              <a:t>排序结果必须包含的字段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880360"/>
          <a:ext cx="4937760" cy="2011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76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rank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综合名次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76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target_name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目标名称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76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geological_score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地质得分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76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data_readiness_score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资料完备性分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76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decision_confidence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决策置信度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76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recommended_action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推荐动作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76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key_strengths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关键优势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76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key_risks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主要风险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76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data_gaps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</a:rPr>
                        <a:t>资料缺口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5349240" y="2468880"/>
            <a:ext cx="3474720" cy="24231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0" y="25420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A3B1"/>
                </a:solidFill>
              </a:rPr>
              <a:t>评分规则版本化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86400" y="297180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C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score_rule_version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486400" y="333756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C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dimension_weights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486400" y="370332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C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indicator_scoring_rules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486400" y="406908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C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missing_data_policy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486400" y="443484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C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confidence_penalty_policy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勘探部署建议逻辑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310896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地质评价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资料完备性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建议动作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优先级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4A"/>
                          </a:solidFill>
                        </a:rPr>
                        <a:t>高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4A"/>
                          </a:solidFill>
                        </a:rPr>
                        <a:t>高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4A"/>
                          </a:solidFill>
                        </a:rPr>
                        <a:t>优先部署预探井或评价井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4A"/>
                          </a:solidFill>
                        </a:rPr>
                        <a:t>🔴 最高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7A4F00"/>
                          </a:solidFill>
                        </a:rPr>
                        <a:t>高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7A4F00"/>
                          </a:solidFill>
                        </a:rPr>
                        <a:t>中/低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7A4F00"/>
                          </a:solidFill>
                        </a:rPr>
                        <a:t>先补充关键资料，再进入井位论证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7A4F00"/>
                          </a:solidFill>
                        </a:rPr>
                        <a:t>🟠 次高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4A"/>
                          </a:solidFill>
                        </a:rPr>
                        <a:t>中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4A"/>
                          </a:solidFill>
                        </a:rPr>
                        <a:t>高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4A"/>
                          </a:solidFill>
                        </a:rPr>
                        <a:t>选择优势层系、区带开展专项评价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4A"/>
                          </a:solidFill>
                        </a:rPr>
                        <a:t>🟡 中等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4A"/>
                          </a:solidFill>
                        </a:rPr>
                        <a:t>中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4A"/>
                          </a:solidFill>
                        </a:rPr>
                        <a:t>中/低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4A"/>
                          </a:solidFill>
                        </a:rPr>
                        <a:t>补充储层、圈闭、资源量证据后再排序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4A"/>
                          </a:solidFill>
                        </a:rPr>
                        <a:t>🟡 中等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4A"/>
                          </a:solidFill>
                        </a:rPr>
                        <a:t>低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4A"/>
                          </a:solidFill>
                        </a:rPr>
                        <a:t>高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4A"/>
                          </a:solidFill>
                        </a:rPr>
                        <a:t>暂缓钻探或降低投入优先级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4A"/>
                          </a:solidFill>
                        </a:rPr>
                        <a:t>🔵 低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低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低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不输出强结论，仅列资料缺口和风险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⚪ 暂缓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20040" y="4069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</a:rPr>
              <a:t>可输出的部署行动类型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20040" y="448056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7680"/>
                </a:solidFill>
              </a:rPr>
              <a:t>▸  优先部署预探井 / 评价井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20040" y="470916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7680"/>
                </a:solidFill>
              </a:rPr>
              <a:t>▸  开展井位论证</a:t>
            </a:r>
            <a:endParaRPr lang="en-US" sz="1100" dirty="0"/>
          </a:p>
        </p:txBody>
      </p:sp>
      <p:sp>
        <p:nvSpPr>
          <p:cNvPr id="4" name="Text 5"/>
          <p:cNvSpPr/>
          <p:nvPr/>
        </p:nvSpPr>
        <p:spPr>
          <a:xfrm>
            <a:off x="320040" y="493776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7680"/>
                </a:solidFill>
              </a:rPr>
              <a:t>▸  补充二维/三维地震解释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709160" y="448056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7680"/>
                </a:solidFill>
              </a:rPr>
              <a:t>▸  补充烃源岩或储层实验分析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09160" y="470916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7680"/>
                </a:solidFill>
              </a:rPr>
              <a:t>▸  开展区带专项评价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709160" y="493776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7680"/>
                </a:solidFill>
              </a:rPr>
              <a:t>▸  暂缓钻探 / 降低投入优先级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MCP 工具设计（8 个核心工具）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64008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7782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assess_target_data_readiness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</a:rPr>
              <a:t>评估单个目标资料完备性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11880" y="1060704"/>
            <a:ext cx="685800" cy="34747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060704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前置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804672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804672"/>
            <a:ext cx="64008" cy="91440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87782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build_basin_evaluation_profile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1280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</a:rPr>
              <a:t>构建目标结构化评价画像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060704"/>
            <a:ext cx="685800" cy="347472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1060704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核心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1856232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1856232"/>
            <a:ext cx="64008" cy="91440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92938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compare_exploration_targets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331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</a:rPr>
              <a:t>多目标横向对比分析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11880" y="2112264"/>
            <a:ext cx="685800" cy="347472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11880" y="2112264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核心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1856232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1856232"/>
            <a:ext cx="64008" cy="91440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192938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rank_exploration_targets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2331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</a:rPr>
              <a:t>多目标勘探优先级排序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046720" y="2112264"/>
            <a:ext cx="685800" cy="347472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0" y="2112264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核心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2907792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2907792"/>
            <a:ext cx="64008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298094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explain_target_ranking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3383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</a:rPr>
              <a:t>解释某目标名次的原因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11880" y="3163824"/>
            <a:ext cx="68580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11880" y="3163824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解释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2907792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2907792"/>
            <a:ext cx="64008" cy="914400"/>
          </a:xfrm>
          <a:prstGeom prst="rect">
            <a:avLst/>
          </a:prstGeom>
          <a:solidFill>
            <a:srgbClr val="1A9B5F"/>
          </a:solidFill>
          <a:ln w="12700">
            <a:solidFill>
              <a:srgbClr val="1A9B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298094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recommend_exploration_deployment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92040" y="3383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</a:rPr>
              <a:t>生成下一步勘探部署建议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046720" y="3163824"/>
            <a:ext cx="685800" cy="347472"/>
          </a:xfrm>
          <a:prstGeom prst="rect">
            <a:avLst/>
          </a:prstGeom>
          <a:solidFill>
            <a:srgbClr val="1A9B5F"/>
          </a:solidFill>
          <a:ln w="12700">
            <a:solidFill>
              <a:srgbClr val="1A9B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46720" y="3163824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输出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4320" y="3959352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74320" y="3959352"/>
            <a:ext cx="64008" cy="914400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03250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trace_evaluation_evidence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4434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</a:rPr>
              <a:t>追溯评分/排序的证据来源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11880" y="4215384"/>
            <a:ext cx="685800" cy="347472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11880" y="4215384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审计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709160" y="3959352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09160" y="3959352"/>
            <a:ext cx="64008" cy="914400"/>
          </a:xfrm>
          <a:prstGeom prst="rect">
            <a:avLst/>
          </a:prstGeom>
          <a:solidFill>
            <a:srgbClr val="1A9B5F"/>
          </a:solidFill>
          <a:ln w="12700">
            <a:solidFill>
              <a:srgbClr val="1A9B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403250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generate_basin_comparison_report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892040" y="4434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</a:rPr>
              <a:t>生成标准化对比报告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046720" y="4215384"/>
            <a:ext cx="685800" cy="347472"/>
          </a:xfrm>
          <a:prstGeom prst="rect">
            <a:avLst/>
          </a:prstGeom>
          <a:solidFill>
            <a:srgbClr val="1A9B5F"/>
          </a:solidFill>
          <a:ln w="12700">
            <a:solidFill>
              <a:srgbClr val="1A9B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46720" y="4215384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输出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与 DocIntel 的层级边界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5146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68680"/>
            <a:ext cx="2514600" cy="6400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86968"/>
            <a:ext cx="2514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DocIntel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Stage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627632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</a:rPr>
              <a:t>✓  文档 normalized content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" y="2267712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</a:rPr>
              <a:t>✓  表格 doc_tables / doc_table_rows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2907792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</a:rPr>
              <a:t>✓  公式、页面级结构化内容持久化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971800" y="2560320"/>
            <a:ext cx="274320" cy="0"/>
          </a:xfrm>
          <a:prstGeom prst="line">
            <a:avLst/>
          </a:prstGeom>
          <a:noFill/>
          <a:ln w="25400">
            <a:solidFill>
              <a:srgbClr val="0FA3B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868680"/>
            <a:ext cx="25146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868680"/>
            <a:ext cx="2514600" cy="64008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886968"/>
            <a:ext cx="2514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DocIntel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Stage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1627632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</a:rPr>
              <a:t>✓  chunk + embedding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83280" y="2267712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</a:rPr>
              <a:t>✓  全文索引 / RAG / GraphRAG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383280" y="2907792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</a:rPr>
              <a:t>✓  table lookup 检索索引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760720" y="2560320"/>
            <a:ext cx="274320" cy="0"/>
          </a:xfrm>
          <a:prstGeom prst="line">
            <a:avLst/>
          </a:prstGeom>
          <a:noFill/>
          <a:ln w="25400">
            <a:solidFill>
              <a:srgbClr val="0FA3B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868680"/>
            <a:ext cx="25146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868680"/>
            <a:ext cx="2514600" cy="6400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886968"/>
            <a:ext cx="2514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BasinComparer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MCP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72200" y="1627632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</a:rPr>
              <a:t>✓  领域指标抽取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172200" y="2267712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</a:rPr>
              <a:t>✓  资料完备性评估 / 评分 / 排序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172200" y="2907792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</a:rPr>
              <a:t>✓  部署建议 / 报告生成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" y="4434840"/>
            <a:ext cx="8503920" cy="594360"/>
          </a:xfrm>
          <a:prstGeom prst="rect">
            <a:avLst/>
          </a:prstGeom>
          <a:solidFill>
            <a:srgbClr val="FEF3CD"/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48056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4F00"/>
                </a:solidFill>
              </a:rPr>
              <a:t>⚠  BasinComparer 只消费 DocIntel 已产出的内容，不绕过 Stage 1/Stage 2 直接调用 OCR/VLM/PDF2MD 修复源文档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MVP 范围与后续扩展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4114800" cy="50292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229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✅  第一阶段 MVP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</a:rPr>
              <a:t>▸  单目标资料完备性评估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</a:rPr>
              <a:t>▸  单目标评价画像构建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</a:rPr>
              <a:t>▸  两目标对比分析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</a:rPr>
              <a:t>▸  多目标排序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2461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</a:rPr>
              <a:t>▸  基于规则的部署建议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033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</a:rPr>
              <a:t>▸  证据追溯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605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</a:rPr>
              <a:t>▸  标准 Markdown 报告输出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804672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804672"/>
            <a:ext cx="4114800" cy="5029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8229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🔭  后续扩展方向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14173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◎  运移/保存/工程/经济条件评价维度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18745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◎  AHP/模糊综合评价多模型评分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23317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◎  历史勘探成败样本模型校准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27889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◎  GIS + 地震解释成果库集成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32461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◎  PDF/Excel/PPT 多格式成果输出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37033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◎  蒙特卡洛资源潜力模拟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41605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◎  排序版本对比（资料更新后）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0FA3B1"/>
                </a:solidFill>
              </a:rPr>
              <a:t>总结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28600" y="10058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BasinComparer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MCP 服务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804672"/>
            <a:ext cx="5577840" cy="685800"/>
          </a:xfrm>
          <a:prstGeom prst="rect">
            <a:avLst/>
          </a:prstGeom>
          <a:solidFill>
            <a:srgbClr val="1C2E44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804672"/>
            <a:ext cx="54864" cy="68580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8595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A3B1"/>
                </a:solidFill>
              </a:rPr>
              <a:t>1.  资料先行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37560" y="115214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B5CC"/>
                </a:solidFill>
              </a:rPr>
              <a:t>先判断能不能评，再判断值不值得投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609344"/>
            <a:ext cx="5577840" cy="685800"/>
          </a:xfrm>
          <a:prstGeom prst="rect">
            <a:avLst/>
          </a:prstGeom>
          <a:solidFill>
            <a:srgbClr val="1C2E44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609344"/>
            <a:ext cx="54864" cy="68580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6642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A3B1"/>
                </a:solidFill>
              </a:rPr>
              <a:t>2.  三维评价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95681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B5CC"/>
                </a:solidFill>
              </a:rPr>
              <a:t>地质分 + 资料完备性分 + 决策置信度，缺一不可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2414016"/>
            <a:ext cx="5577840" cy="685800"/>
          </a:xfrm>
          <a:prstGeom prst="rect">
            <a:avLst/>
          </a:prstGeom>
          <a:solidFill>
            <a:srgbClr val="1C2E44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2414016"/>
            <a:ext cx="54864" cy="68580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2468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A3B1"/>
                </a:solidFill>
              </a:rPr>
              <a:t>3.  可追溯性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37560" y="276148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B5CC"/>
                </a:solidFill>
              </a:rPr>
              <a:t>每个结论追溯到文档、页码、chunk、表格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3218688"/>
            <a:ext cx="5577840" cy="685800"/>
          </a:xfrm>
          <a:prstGeom prst="rect">
            <a:avLst/>
          </a:prstGeom>
          <a:solidFill>
            <a:srgbClr val="1C2E44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3218688"/>
            <a:ext cx="54864" cy="68580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32735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A3B1"/>
                </a:solidFill>
              </a:rPr>
              <a:t>4.  规则版本化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37560" y="35661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B5CC"/>
                </a:solidFill>
              </a:rPr>
              <a:t>评分模型版本化，结果可复现可审计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4023360"/>
            <a:ext cx="5577840" cy="685800"/>
          </a:xfrm>
          <a:prstGeom prst="rect">
            <a:avLst/>
          </a:prstGeom>
          <a:solidFill>
            <a:srgbClr val="1C2E44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4023360"/>
            <a:ext cx="54864" cy="68580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40782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A3B1"/>
                </a:solidFill>
              </a:rPr>
              <a:t>5.  部署闭环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37560" y="437083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B5CC"/>
                </a:solidFill>
              </a:rPr>
              <a:t>排序结果最终转化为具体勘探行动建议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0" y="470916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D7680"/>
                </a:solidFill>
              </a:rPr>
              <a:t>证据驱动  ·  可解释  ·  可审计  ·  可部署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7A0CAA9-0073-B741-9CF6-967CC0148798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b6ef9e5b-c102-4489-b26c-e38e8b280cd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421</TotalTime>
  <Words>590</Words>
  <Application>Microsoft Macintosh PowerPoint</Application>
  <PresentationFormat>On-screen Show (16:9)</PresentationFormat>
  <Paragraphs>248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BasinComparer MCP 服务设计</dc:title>
  <dc:subject>PptxGenJS Presentation</dc:subject>
  <dc:creator>PptxGenJS</dc:creator>
  <cp:lastModifiedBy>Ke Hongwei</cp:lastModifiedBy>
  <cp:revision>2</cp:revision>
  <dcterms:created xsi:type="dcterms:W3CDTF">2026-05-28T03:18:24Z</dcterms:created>
  <dcterms:modified xsi:type="dcterms:W3CDTF">2026-05-28T12:58:52Z</dcterms:modified>
</cp:coreProperties>
</file>